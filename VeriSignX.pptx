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2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4" r:id="rId9"/>
    <p:sldId id="269" r:id="rId10"/>
    <p:sldId id="262" r:id="rId11"/>
    <p:sldId id="263" r:id="rId12"/>
    <p:sldId id="265" r:id="rId13"/>
    <p:sldId id="266" r:id="rId14"/>
    <p:sldId id="270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2BD9C98-08F6-4853-8887-1B9E37B87B5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BCF-4F67-41F6-9E01-C67BAD17C738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926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C98-08F6-4853-8887-1B9E37B87B5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BCF-4F67-41F6-9E01-C67BAD17C7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007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C98-08F6-4853-8887-1B9E37B87B5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BCF-4F67-41F6-9E01-C67BAD17C738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4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C98-08F6-4853-8887-1B9E37B87B5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BCF-4F67-41F6-9E01-C67BAD17C7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727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C98-08F6-4853-8887-1B9E37B87B5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BCF-4F67-41F6-9E01-C67BAD17C7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780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C98-08F6-4853-8887-1B9E37B87B5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BCF-4F67-41F6-9E01-C67BAD17C7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97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C98-08F6-4853-8887-1B9E37B87B5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BCF-4F67-41F6-9E01-C67BAD17C7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668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C98-08F6-4853-8887-1B9E37B87B5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BCF-4F67-41F6-9E01-C67BAD17C7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424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C98-08F6-4853-8887-1B9E37B87B5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BCF-4F67-41F6-9E01-C67BAD17C73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531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C98-08F6-4853-8887-1B9E37B87B5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BCF-4F67-41F6-9E01-C67BAD17C7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518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C98-08F6-4853-8887-1B9E37B87B5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BCF-4F67-41F6-9E01-C67BAD17C738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827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C2BD9C98-08F6-4853-8887-1B9E37B87B5D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3D55ABCF-4F67-41F6-9E01-C67BAD17C738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91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4D5EB-4E50-1BB7-1057-41DFBF851F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VeriSignX: </a:t>
            </a:r>
            <a:br>
              <a:rPr lang="en-IN" dirty="0"/>
            </a:br>
            <a:r>
              <a:rPr lang="en-IN" sz="3600" dirty="0"/>
              <a:t>AI-Driven Signature Verification for Fraud-Resistant Cheque Processing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AD8F6D-AE10-9D2D-9D9B-65FB675EE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6838" y="434823"/>
            <a:ext cx="9144000" cy="165576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Capstone ID: </a:t>
            </a:r>
            <a:r>
              <a:rPr lang="en-IN" dirty="0">
                <a:solidFill>
                  <a:schemeClr val="bg1"/>
                </a:solidFill>
              </a:rPr>
              <a:t>20250516</a:t>
            </a:r>
            <a:endParaRPr lang="en-US" dirty="0">
              <a:solidFill>
                <a:schemeClr val="bg1"/>
              </a:solidFill>
            </a:endParaRPr>
          </a:p>
          <a:p>
            <a:pPr algn="l"/>
            <a:r>
              <a:rPr lang="en-US" b="1" dirty="0">
                <a:solidFill>
                  <a:schemeClr val="bg1"/>
                </a:solidFill>
              </a:rPr>
              <a:t>Presented by:</a:t>
            </a:r>
            <a:r>
              <a:rPr lang="en-US" dirty="0">
                <a:solidFill>
                  <a:schemeClr val="bg1"/>
                </a:solidFill>
              </a:rPr>
              <a:t> Shantanu Maity (22BCE7223)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                      Deepak Shajan (22BCE8198)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Institution: </a:t>
            </a:r>
            <a:r>
              <a:rPr lang="en-US" dirty="0">
                <a:solidFill>
                  <a:schemeClr val="bg1"/>
                </a:solidFill>
              </a:rPr>
              <a:t>VIT-AP University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Department:</a:t>
            </a:r>
            <a:r>
              <a:rPr lang="en-US" dirty="0">
                <a:solidFill>
                  <a:schemeClr val="bg1"/>
                </a:solidFill>
              </a:rPr>
              <a:t> Computer Science and Engineering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51CE26-0B2D-8851-8AF3-C45E31275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1010473"/>
            <a:ext cx="2514888" cy="251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746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3F664-3BB7-8CC0-3655-47E61E97D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B8F6C-3FC2-103F-C55A-22B97964C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Signature verification is a crucial security process in banking and financial operations. Manual verification is time-consuming and prone to human error, leading to potential fraud.</a:t>
            </a:r>
          </a:p>
          <a:p>
            <a:pPr marL="0" indent="0" algn="just">
              <a:buNone/>
            </a:pPr>
            <a:br>
              <a:rPr lang="en-US" dirty="0"/>
            </a:br>
            <a:r>
              <a:rPr lang="en-US" dirty="0" err="1"/>
              <a:t>VeriSignX</a:t>
            </a:r>
            <a:r>
              <a:rPr lang="en-US" dirty="0"/>
              <a:t> is an AI-driven system designed to automate cheque signature verification using image processing and machine learning. It ensures high accuracy and reliability by combining OCR-based localization, image segmentation, and a Support Vector Machine (SVM) classifier trained on fused feature representations.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1582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5900B-76B9-28E6-C711-C76E278BA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1A364-4CF1-B276-926C-658977C08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Input the cheque image</a:t>
            </a:r>
          </a:p>
          <a:p>
            <a:r>
              <a:rPr lang="en-US" dirty="0"/>
              <a:t>OCR text detection </a:t>
            </a:r>
            <a:r>
              <a:rPr lang="en-US"/>
              <a:t>(find Line </a:t>
            </a:r>
            <a:r>
              <a:rPr lang="en-US" dirty="0"/>
              <a:t>Sweep + Connected Component segmentations “Please sign above”)</a:t>
            </a:r>
          </a:p>
          <a:p>
            <a:r>
              <a:rPr lang="en-IN" dirty="0"/>
              <a:t>Feature extraction (SIFT + Contour features)</a:t>
            </a:r>
          </a:p>
          <a:p>
            <a:r>
              <a:rPr lang="en-US" dirty="0"/>
              <a:t>SVM classification (Genuine or Forged)</a:t>
            </a:r>
          </a:p>
          <a:p>
            <a:r>
              <a:rPr lang="en-IN" dirty="0"/>
              <a:t>Output result via web interface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Fully automated pipeline: </a:t>
            </a:r>
          </a:p>
          <a:p>
            <a:pPr marL="0" indent="0" algn="ctr">
              <a:buNone/>
            </a:pPr>
            <a:r>
              <a:rPr lang="en-IN" i="1" dirty="0"/>
              <a:t>Cheque Image → OCR → Segmentation → Feature Extraction → Classification → Result</a:t>
            </a:r>
          </a:p>
        </p:txBody>
      </p:sp>
    </p:spTree>
    <p:extLst>
      <p:ext uri="{BB962C8B-B14F-4D97-AF65-F5344CB8AC3E}">
        <p14:creationId xmlns:p14="http://schemas.microsoft.com/office/powerpoint/2010/main" val="4025066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EFD04-2B31-CC43-4062-49A4AE80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D4379-17A5-7A81-73A0-509089E76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Preprocessing</a:t>
            </a:r>
            <a:r>
              <a:rPr lang="en-US" dirty="0"/>
              <a:t>: Converts cheque images to grayscale, applies a Gaussian blur, and binarizes using Otsu’s thresholding.</a:t>
            </a:r>
          </a:p>
          <a:p>
            <a:r>
              <a:rPr lang="en-US" b="1" dirty="0"/>
              <a:t>Signature </a:t>
            </a:r>
            <a:r>
              <a:rPr lang="en-US" b="1" dirty="0" err="1"/>
              <a:t>Localisation</a:t>
            </a:r>
            <a:r>
              <a:rPr lang="en-US" dirty="0"/>
              <a:t>: Uses OCR with Line Sweep and Connected Component methods to isolate the signature region.</a:t>
            </a:r>
          </a:p>
          <a:p>
            <a:r>
              <a:rPr lang="en-US" b="1" dirty="0"/>
              <a:t>Feature Extraction</a:t>
            </a:r>
            <a:r>
              <a:rPr lang="en-US" dirty="0"/>
              <a:t>: Extracts SIFT texture features and contour-based geometric features (ratio, centroid, solidity, skewness, etc.).</a:t>
            </a:r>
          </a:p>
          <a:p>
            <a:r>
              <a:rPr lang="en-US" b="1" dirty="0"/>
              <a:t>Model Training</a:t>
            </a:r>
            <a:r>
              <a:rPr lang="en-US" dirty="0"/>
              <a:t>: Trains a </a:t>
            </a:r>
            <a:r>
              <a:rPr lang="en-US" dirty="0" err="1"/>
              <a:t>LinearSVC</a:t>
            </a:r>
            <a:r>
              <a:rPr lang="en-US" dirty="0"/>
              <a:t> classifier on scaled hybrid feature vectors and saves it as </a:t>
            </a:r>
            <a:r>
              <a:rPr lang="en-US" dirty="0" err="1"/>
              <a:t>model.pkl</a:t>
            </a:r>
            <a:r>
              <a:rPr lang="en-US" dirty="0"/>
              <a:t>.</a:t>
            </a:r>
          </a:p>
          <a:p>
            <a:r>
              <a:rPr lang="en-US" b="1" dirty="0"/>
              <a:t>Deployment</a:t>
            </a:r>
            <a:r>
              <a:rPr lang="en-US" dirty="0"/>
              <a:t>: Flask web app enables cheque upload, automatic analysis, and instant authenticity results.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F19357-3BDB-C32B-3EA3-6A0963128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9F1FAE-7D0F-7E2C-3FB0-783CE9D9A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737" y="1808215"/>
            <a:ext cx="2828925" cy="419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34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9A16-8765-5946-5A73-2119559E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10DF3-50F1-FCD8-D04A-C8F34F865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the IDRBT Cheque Image Dataset with genuine and forged signatures.</a:t>
            </a:r>
          </a:p>
          <a:p>
            <a:r>
              <a:rPr lang="en-IN" dirty="0"/>
              <a:t>Contains scanned cheque images from 29 different signers.</a:t>
            </a:r>
          </a:p>
          <a:p>
            <a:r>
              <a:rPr lang="en-US" dirty="0"/>
              <a:t>Includes variations in ink, style, and noise for realistic conditions.</a:t>
            </a:r>
          </a:p>
          <a:p>
            <a:r>
              <a:rPr lang="en-US" dirty="0"/>
              <a:t>Data is </a:t>
            </a:r>
            <a:r>
              <a:rPr lang="en-US" dirty="0" err="1"/>
              <a:t>organised</a:t>
            </a:r>
            <a:r>
              <a:rPr lang="en-US" dirty="0"/>
              <a:t> into genuine and forged folders for training and testing.</a:t>
            </a:r>
          </a:p>
          <a:p>
            <a:r>
              <a:rPr lang="en-US" dirty="0"/>
              <a:t>Supports supervised learning for accurate signature classification.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339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4058A-9885-C89E-D08A-CBB10C40D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RESULT AND 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9BBA4-AAD5-1A65-42E4-20802C8E6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45633"/>
            <a:ext cx="10515600" cy="471236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The trained model was evaluated on 29 signer groups from the </a:t>
            </a:r>
            <a:r>
              <a:rPr lang="en-US" sz="2000" b="1" dirty="0"/>
              <a:t>IDRBT Cheque Image Dataset</a:t>
            </a:r>
            <a:r>
              <a:rPr lang="en-US" sz="2000" dirty="0"/>
              <a:t>, achieving excellent accuracy in classifying genuine and forged signatures. The combined OCR – LineSweep – SIFT – SVM architecture yielded high accuracy, low false rates, and real-time responsiveness suitable for banking-grade applications.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7CE4CA-91C3-CE03-78F1-2FDF7C80E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429105"/>
              </p:ext>
            </p:extLst>
          </p:nvPr>
        </p:nvGraphicFramePr>
        <p:xfrm>
          <a:off x="838199" y="3429000"/>
          <a:ext cx="10515600" cy="3049323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5346512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9427918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32105209"/>
                    </a:ext>
                  </a:extLst>
                </a:gridCol>
              </a:tblGrid>
              <a:tr h="37636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90995"/>
                  </a:ext>
                </a:extLst>
              </a:tr>
              <a:tr h="37636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Overall correct classifications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80.8% – 82.2%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057718"/>
                  </a:ext>
                </a:extLst>
              </a:tr>
              <a:tr h="37636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Precision (Forged)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Correctly predicted forgeries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94.1%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694769"/>
                  </a:ext>
                </a:extLst>
              </a:tr>
              <a:tr h="54395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Recall (Forged)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Forged signatures correctly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95.3%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682229"/>
                  </a:ext>
                </a:extLst>
              </a:tr>
              <a:tr h="54395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False Acceptance Rate (FAR)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Forged signatures accepted as genuine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≈ 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160483"/>
                  </a:ext>
                </a:extLst>
              </a:tr>
              <a:tr h="54395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False Rejection Rate (FRR)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Genuine signatures rejected as forged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≈ 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404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032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E168B-7E59-4BCD-EB8E-04F2E6267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A4BA3-1900-6E26-5C39-5A75ED8EB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Hybrid Architecture:</a:t>
            </a:r>
            <a:r>
              <a:rPr lang="en-US" dirty="0"/>
              <a:t> Integrates OCR-based text </a:t>
            </a:r>
            <a:r>
              <a:rPr lang="en-US" dirty="0" err="1"/>
              <a:t>localisation</a:t>
            </a:r>
            <a:r>
              <a:rPr lang="en-US" dirty="0"/>
              <a:t>, geometric scanning, and feature fusion for robust region extraction.</a:t>
            </a:r>
          </a:p>
          <a:p>
            <a:r>
              <a:rPr lang="en-US" b="1" dirty="0"/>
              <a:t>Unified Deployment Model:</a:t>
            </a:r>
            <a:r>
              <a:rPr lang="en-US" dirty="0"/>
              <a:t> The use of a single </a:t>
            </a:r>
            <a:r>
              <a:rPr lang="en-US" dirty="0" err="1"/>
              <a:t>serialised</a:t>
            </a:r>
            <a:r>
              <a:rPr lang="en-US" dirty="0"/>
              <a:t> model (</a:t>
            </a:r>
            <a:r>
              <a:rPr lang="en-US" i="1" dirty="0" err="1"/>
              <a:t>model.pkl</a:t>
            </a:r>
            <a:r>
              <a:rPr lang="en-US" dirty="0"/>
              <a:t>) containing all components simplifies real-world deployment.</a:t>
            </a:r>
          </a:p>
          <a:p>
            <a:r>
              <a:rPr lang="en-US" b="1" dirty="0"/>
              <a:t>Feature Fusion:</a:t>
            </a:r>
            <a:r>
              <a:rPr lang="en-US" dirty="0"/>
              <a:t> Combines </a:t>
            </a:r>
            <a:r>
              <a:rPr lang="en-US" i="1" dirty="0"/>
              <a:t>local texture patterns</a:t>
            </a:r>
            <a:r>
              <a:rPr lang="en-US" dirty="0"/>
              <a:t> (SIFT) and </a:t>
            </a:r>
            <a:r>
              <a:rPr lang="en-US" i="1" dirty="0"/>
              <a:t>global geometric characteristics</a:t>
            </a:r>
            <a:r>
              <a:rPr lang="en-US" dirty="0"/>
              <a:t> (contours) — improving resistance to skilled forgeries.</a:t>
            </a:r>
          </a:p>
          <a:p>
            <a:r>
              <a:rPr lang="en-US" b="1" dirty="0"/>
              <a:t>Flask Integration:</a:t>
            </a:r>
            <a:r>
              <a:rPr lang="en-US" dirty="0"/>
              <a:t> Provides a lightweight yet powerful real-time verification platform accessible through a browser.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2845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4814F-ADAF-08D4-7E64-B38FCF785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MET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089B2-16B2-67FD-8280-176C80BF8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Automated extraction of cheque signature regions using OCR and image segmentation.</a:t>
            </a:r>
          </a:p>
          <a:p>
            <a:r>
              <a:rPr lang="en-US" dirty="0"/>
              <a:t>Comprehensive feature generation combining texture, geometry, and key points.</a:t>
            </a:r>
          </a:p>
          <a:p>
            <a:r>
              <a:rPr lang="en-US" dirty="0"/>
              <a:t>Training of a robust and interpretable SVM model for verification.</a:t>
            </a:r>
          </a:p>
          <a:p>
            <a:r>
              <a:rPr lang="en-US" dirty="0"/>
              <a:t>End-to-end deployment through a Flask web interface.</a:t>
            </a:r>
          </a:p>
          <a:p>
            <a:r>
              <a:rPr lang="en-US" dirty="0"/>
              <a:t>Significant improvement in detection accuracy with low false decision rates.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613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770CE-B922-87E6-F363-7294CE5B1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with Existing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40261-4CB9-A1EF-7F9D-611F12C5A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systems rely on pixel matching or correlation-based methods, which fail under noise, rotation, or style variations.</a:t>
            </a:r>
          </a:p>
          <a:p>
            <a:r>
              <a:rPr lang="en-US" dirty="0"/>
              <a:t>Some existing models use only geometric features or CNN-based deep models, requiring large datasets and high computation.</a:t>
            </a:r>
          </a:p>
          <a:p>
            <a:r>
              <a:rPr lang="en-US" dirty="0" err="1"/>
              <a:t>VeriSignX</a:t>
            </a:r>
            <a:r>
              <a:rPr lang="en-US" dirty="0"/>
              <a:t> introduces a hybrid feature fusion approach combining SIFT (local texture) and contour-based (global shape) features.</a:t>
            </a:r>
          </a:p>
          <a:p>
            <a:r>
              <a:rPr lang="en-US" dirty="0"/>
              <a:t>Achieves 80.8–82.2% accuracy, outperforming classical SVM or CNN-only approaches on limited data.</a:t>
            </a:r>
          </a:p>
          <a:p>
            <a:r>
              <a:rPr lang="en-US" dirty="0"/>
              <a:t>Offers real-time verification through a lightweight Flask web app, unlike heavy offline models.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3134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A219A-86F4-CB50-6837-982E25ADD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0DABF-B07F-B456-1FAC-0293D4559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Banking Institutions:</a:t>
            </a:r>
            <a:r>
              <a:rPr lang="en-US" dirty="0"/>
              <a:t> Automated signature verification for cheque processing and fraud prevention.</a:t>
            </a:r>
          </a:p>
          <a:p>
            <a:r>
              <a:rPr lang="en-US" b="1" dirty="0"/>
              <a:t>Corporate Workflows:</a:t>
            </a:r>
            <a:r>
              <a:rPr lang="en-US" dirty="0"/>
              <a:t> Employee signature verification for document authentication.</a:t>
            </a:r>
          </a:p>
          <a:p>
            <a:r>
              <a:rPr lang="en-US" b="1" dirty="0"/>
              <a:t>Legal &amp; Governmental Sectors:</a:t>
            </a:r>
            <a:r>
              <a:rPr lang="en-US" dirty="0"/>
              <a:t> Signature validation for contracts, affidavits, and archival documents.</a:t>
            </a:r>
          </a:p>
          <a:p>
            <a:r>
              <a:rPr lang="en-US" b="1" dirty="0"/>
              <a:t>Research Expansion:</a:t>
            </a:r>
            <a:r>
              <a:rPr lang="en-US" dirty="0"/>
              <a:t> Extensible to digital document security, stylometric handwriting analysis, and biometric verification.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7430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7E4DC-8CEA-D98D-FEE7-E7E06733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406FC-182B-1827-2012-FD3D0CF16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Interactive Web App:</a:t>
            </a:r>
          </a:p>
          <a:p>
            <a:pPr marL="0" indent="0">
              <a:buNone/>
            </a:pPr>
            <a:r>
              <a:rPr lang="en-IN" dirty="0"/>
              <a:t>Built using Flask, allowing users to upload cheque images and generate results.</a:t>
            </a:r>
          </a:p>
          <a:p>
            <a:r>
              <a:rPr lang="en-IN" b="1" dirty="0"/>
              <a:t>System Demonstration</a:t>
            </a:r>
          </a:p>
          <a:p>
            <a:pPr marL="0" indent="0">
              <a:buNone/>
            </a:pPr>
            <a:r>
              <a:rPr lang="en-US" dirty="0"/>
              <a:t>Performs real-time cheque verification from upload to result with instant, color-coded outputs, seamlessly integrable into banking systems.</a:t>
            </a:r>
            <a:endParaRPr lang="en-IN" dirty="0"/>
          </a:p>
          <a:p>
            <a:r>
              <a:rPr lang="en-IN" b="1" dirty="0"/>
              <a:t>User Experience</a:t>
            </a:r>
          </a:p>
          <a:p>
            <a:pPr marL="0" indent="0">
              <a:buNone/>
            </a:pPr>
            <a:r>
              <a:rPr lang="en-US" dirty="0"/>
              <a:t>Clean and minimal interface for use in institutional environments.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53918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5DBD7-86F1-6801-1870-5945D3F89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STANDARDS / TOOLS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CC31F4A7-DD85-2A43-6011-9C017F5668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1774095"/>
              </p:ext>
            </p:extLst>
          </p:nvPr>
        </p:nvGraphicFramePr>
        <p:xfrm>
          <a:off x="1023938" y="2286000"/>
          <a:ext cx="9720262" cy="33375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860131">
                  <a:extLst>
                    <a:ext uri="{9D8B030D-6E8A-4147-A177-3AD203B41FA5}">
                      <a16:colId xmlns:a16="http://schemas.microsoft.com/office/drawing/2014/main" val="874687924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42146297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Category</a:t>
                      </a:r>
                    </a:p>
                  </a:txBody>
                  <a:tcPr marL="84523" marR="84523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Tools / Libraries Used</a:t>
                      </a:r>
                    </a:p>
                  </a:txBody>
                  <a:tcPr marL="84523" marR="84523"/>
                </a:tc>
                <a:extLst>
                  <a:ext uri="{0D108BD9-81ED-4DB2-BD59-A6C34878D82A}">
                    <a16:rowId xmlns:a16="http://schemas.microsoft.com/office/drawing/2014/main" val="3158950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Language</a:t>
                      </a:r>
                    </a:p>
                  </a:txBody>
                  <a:tcPr marL="84523" marR="84523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Python</a:t>
                      </a:r>
                    </a:p>
                  </a:txBody>
                  <a:tcPr marL="84523" marR="84523"/>
                </a:tc>
                <a:extLst>
                  <a:ext uri="{0D108BD9-81ED-4DB2-BD59-A6C34878D82A}">
                    <a16:rowId xmlns:a16="http://schemas.microsoft.com/office/drawing/2014/main" val="3227424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Machine Learning</a:t>
                      </a:r>
                    </a:p>
                  </a:txBody>
                  <a:tcPr marL="84523" marR="84523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scikit-learn (</a:t>
                      </a:r>
                      <a:r>
                        <a:rPr lang="en-IN" dirty="0" err="1"/>
                        <a:t>LinearSVC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StandardScaler</a:t>
                      </a:r>
                      <a:r>
                        <a:rPr lang="en-IN" dirty="0"/>
                        <a:t>)</a:t>
                      </a:r>
                    </a:p>
                  </a:txBody>
                  <a:tcPr marL="84523" marR="84523"/>
                </a:tc>
                <a:extLst>
                  <a:ext uri="{0D108BD9-81ED-4DB2-BD59-A6C34878D82A}">
                    <a16:rowId xmlns:a16="http://schemas.microsoft.com/office/drawing/2014/main" val="252640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Feature Extraction</a:t>
                      </a:r>
                    </a:p>
                  </a:txBody>
                  <a:tcPr marL="84523" marR="84523"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</a:rPr>
                        <a:t>OpenCV (SIFT, Contours)</a:t>
                      </a:r>
                      <a:endParaRPr lang="en-IN" dirty="0"/>
                    </a:p>
                  </a:txBody>
                  <a:tcPr marL="84523" marR="84523"/>
                </a:tc>
                <a:extLst>
                  <a:ext uri="{0D108BD9-81ED-4DB2-BD59-A6C34878D82A}">
                    <a16:rowId xmlns:a16="http://schemas.microsoft.com/office/drawing/2014/main" val="852097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Image Preprocessing</a:t>
                      </a:r>
                    </a:p>
                  </a:txBody>
                  <a:tcPr marL="84523" marR="845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</a:rPr>
                        <a:t>NumPy</a:t>
                      </a:r>
                      <a:r>
                        <a:rPr lang="en-IN" dirty="0"/>
                        <a:t>,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</a:rPr>
                        <a:t>Matplotlib</a:t>
                      </a:r>
                      <a:r>
                        <a:rPr lang="en-IN" dirty="0"/>
                        <a:t>,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</a:rPr>
                        <a:t>scikit-image</a:t>
                      </a:r>
                      <a:r>
                        <a:rPr lang="en-IN" dirty="0"/>
                        <a:t>,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</a:rPr>
                        <a:t>Pillow</a:t>
                      </a:r>
                      <a:endParaRPr lang="en-IN" dirty="0"/>
                    </a:p>
                  </a:txBody>
                  <a:tcPr marL="84523" marR="84523"/>
                </a:tc>
                <a:extLst>
                  <a:ext uri="{0D108BD9-81ED-4DB2-BD59-A6C34878D82A}">
                    <a16:rowId xmlns:a16="http://schemas.microsoft.com/office/drawing/2014/main" val="3475170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OCR &amp; Text Detection</a:t>
                      </a:r>
                    </a:p>
                  </a:txBody>
                  <a:tcPr marL="84523" marR="8452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pytesseract</a:t>
                      </a:r>
                      <a:endParaRPr lang="en-IN" dirty="0"/>
                    </a:p>
                  </a:txBody>
                  <a:tcPr marL="84523" marR="84523"/>
                </a:tc>
                <a:extLst>
                  <a:ext uri="{0D108BD9-81ED-4DB2-BD59-A6C34878D82A}">
                    <a16:rowId xmlns:a16="http://schemas.microsoft.com/office/drawing/2014/main" val="3642404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Web Framework</a:t>
                      </a:r>
                    </a:p>
                  </a:txBody>
                  <a:tcPr marL="84523" marR="84523"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</a:rPr>
                        <a:t>Flask</a:t>
                      </a:r>
                      <a:endParaRPr lang="en-IN" dirty="0"/>
                    </a:p>
                  </a:txBody>
                  <a:tcPr marL="84523" marR="84523"/>
                </a:tc>
                <a:extLst>
                  <a:ext uri="{0D108BD9-81ED-4DB2-BD59-A6C34878D82A}">
                    <a16:rowId xmlns:a16="http://schemas.microsoft.com/office/drawing/2014/main" val="973112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Visualization</a:t>
                      </a:r>
                    </a:p>
                  </a:txBody>
                  <a:tcPr marL="84523" marR="84523"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</a:rPr>
                        <a:t>Matplotlib</a:t>
                      </a:r>
                      <a:r>
                        <a:rPr lang="en-IN" dirty="0"/>
                        <a:t>, HTML templates</a:t>
                      </a:r>
                    </a:p>
                  </a:txBody>
                  <a:tcPr marL="84523" marR="84523"/>
                </a:tc>
                <a:extLst>
                  <a:ext uri="{0D108BD9-81ED-4DB2-BD59-A6C34878D82A}">
                    <a16:rowId xmlns:a16="http://schemas.microsoft.com/office/drawing/2014/main" val="2959085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Dataset Used</a:t>
                      </a:r>
                    </a:p>
                  </a:txBody>
                  <a:tcPr marL="84523" marR="84523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IDRBT Cheque Image Dataset (Genuine vs Forged)</a:t>
                      </a:r>
                    </a:p>
                  </a:txBody>
                  <a:tcPr marL="84523" marR="84523"/>
                </a:tc>
                <a:extLst>
                  <a:ext uri="{0D108BD9-81ED-4DB2-BD59-A6C34878D82A}">
                    <a16:rowId xmlns:a16="http://schemas.microsoft.com/office/drawing/2014/main" val="2878942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3418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A708-BA06-F8C6-C0E2-388FB71B8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DEDF0-E801-453C-46AA-F46C1AB83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VeriSignX automates cheque signature verification using AI and image processing.</a:t>
            </a:r>
          </a:p>
          <a:p>
            <a:r>
              <a:rPr lang="en-US" dirty="0"/>
              <a:t>Combines OCR localization, feature fusion, and SVM classification.</a:t>
            </a:r>
          </a:p>
          <a:p>
            <a:r>
              <a:rPr lang="en-US" dirty="0"/>
              <a:t>Achieved </a:t>
            </a:r>
            <a:r>
              <a:rPr lang="en-US" b="1" dirty="0"/>
              <a:t>&gt;82% accuracy</a:t>
            </a:r>
            <a:r>
              <a:rPr lang="en-US" dirty="0"/>
              <a:t> with minimal error rates.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0328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8986E-6D44-D6D2-D08A-F7128E55A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4E402-F068-DFF3-D82D-54B861D1B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IDRBT Cheque Image Dataset</a:t>
            </a:r>
            <a:r>
              <a:rPr lang="en-US" dirty="0"/>
              <a:t> – Institute for Development and Research in Banking Technology (IDRBT), Hyderabad, India.</a:t>
            </a:r>
          </a:p>
          <a:p>
            <a:r>
              <a:rPr lang="en-US" dirty="0"/>
              <a:t>B. K. Verma and S. Pal, </a:t>
            </a:r>
            <a:r>
              <a:rPr lang="en-US" i="1" dirty="0"/>
              <a:t>“Offline Signature Verification and Forgery Detection Using Hybrid Features and Support Vector Machine,”</a:t>
            </a:r>
            <a:r>
              <a:rPr lang="en-US" dirty="0"/>
              <a:t> </a:t>
            </a:r>
            <a:r>
              <a:rPr lang="en-US" b="1" dirty="0"/>
              <a:t>IEEE Access</a:t>
            </a:r>
            <a:r>
              <a:rPr lang="en-US" dirty="0"/>
              <a:t>, vol. 8, pp. 184632–184643, 2020.</a:t>
            </a:r>
          </a:p>
          <a:p>
            <a:r>
              <a:rPr lang="en-US" dirty="0"/>
              <a:t>S. Kumar and A. K. Singh, </a:t>
            </a:r>
            <a:r>
              <a:rPr lang="en-US" i="1" dirty="0"/>
              <a:t>“A Machine Learning Approach for Signature Verification Using SVM and KNN,”</a:t>
            </a:r>
            <a:r>
              <a:rPr lang="en-US" dirty="0"/>
              <a:t> </a:t>
            </a:r>
            <a:r>
              <a:rPr lang="en-US" b="1" dirty="0"/>
              <a:t>Procedia Computer Science</a:t>
            </a:r>
            <a:r>
              <a:rPr lang="en-US" dirty="0"/>
              <a:t>, vol. 132, pp. 400–408, 2018.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8416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76139-E8A0-4FC1-53DC-7EF8819C1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3BE11-681C-2EA2-F5EB-3061E71B5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Project:</a:t>
            </a:r>
            <a:r>
              <a:rPr lang="en-IN" dirty="0"/>
              <a:t> VeriSignX </a:t>
            </a:r>
          </a:p>
          <a:p>
            <a:r>
              <a:rPr lang="en-US" b="1" dirty="0"/>
              <a:t>Presented by:</a:t>
            </a:r>
            <a:r>
              <a:rPr lang="en-US" dirty="0"/>
              <a:t> Shantanu Maity &amp; Deepak Shajan</a:t>
            </a:r>
          </a:p>
          <a:p>
            <a:r>
              <a:rPr lang="en-US" b="1" dirty="0"/>
              <a:t>Institution: </a:t>
            </a:r>
            <a:r>
              <a:rPr lang="en-US" dirty="0"/>
              <a:t>VIT-AP University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0631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747</TotalTime>
  <Words>994</Words>
  <Application>Microsoft Office PowerPoint</Application>
  <PresentationFormat>Widescreen</PresentationFormat>
  <Paragraphs>122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Tw Cen MT</vt:lpstr>
      <vt:lpstr>Tw Cen MT Condensed</vt:lpstr>
      <vt:lpstr>Wingdings 3</vt:lpstr>
      <vt:lpstr>Integral</vt:lpstr>
      <vt:lpstr>VeriSignX:  AI-Driven Signature Verification for Fraud-Resistant Cheque Processing</vt:lpstr>
      <vt:lpstr>INTRODUCTION</vt:lpstr>
      <vt:lpstr>System Architecture</vt:lpstr>
      <vt:lpstr>METHODOLOGY </vt:lpstr>
      <vt:lpstr>DATASET</vt:lpstr>
      <vt:lpstr>RESULT AND PERFORMANCE METRICS</vt:lpstr>
      <vt:lpstr>NOVELTY</vt:lpstr>
      <vt:lpstr>OBJECTIVES MET</vt:lpstr>
      <vt:lpstr>Comparison with Existing Models</vt:lpstr>
      <vt:lpstr>APPLICATION</vt:lpstr>
      <vt:lpstr>PRESENTATION</vt:lpstr>
      <vt:lpstr>STANDARDS / TOOLS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Shantanu Maity</dc:creator>
  <cp:lastModifiedBy>Shantanu Maity</cp:lastModifiedBy>
  <cp:revision>5</cp:revision>
  <dcterms:created xsi:type="dcterms:W3CDTF">2025-11-08T06:08:47Z</dcterms:created>
  <dcterms:modified xsi:type="dcterms:W3CDTF">2025-11-09T05:11:34Z</dcterms:modified>
</cp:coreProperties>
</file>